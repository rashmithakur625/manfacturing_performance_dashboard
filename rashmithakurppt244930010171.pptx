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1" r:id="rId18"/>
    <p:sldId id="272" r:id="rId19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43" d="100"/>
          <a:sy n="143" d="100"/>
        </p:scale>
        <p:origin x="684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4242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424242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242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24242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242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242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9196" y="1275588"/>
            <a:ext cx="614680" cy="0"/>
          </a:xfrm>
          <a:custGeom>
            <a:avLst/>
            <a:gdLst/>
            <a:ahLst/>
            <a:cxnLst/>
            <a:rect l="l" t="t" r="r" b="b"/>
            <a:pathLst>
              <a:path w="614680">
                <a:moveTo>
                  <a:pt x="0" y="0"/>
                </a:moveTo>
                <a:lnTo>
                  <a:pt x="614108" y="0"/>
                </a:lnTo>
              </a:path>
            </a:pathLst>
          </a:custGeom>
          <a:ln w="19050">
            <a:solidFill>
              <a:srgbClr val="424242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2302" y="205866"/>
            <a:ext cx="7759395" cy="809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4242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4850" y="1537462"/>
            <a:ext cx="5370830" cy="3162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424242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3326765"/>
          </a:xfrm>
          <a:custGeom>
            <a:avLst/>
            <a:gdLst/>
            <a:ahLst/>
            <a:cxnLst/>
            <a:rect l="l" t="t" r="r" b="b"/>
            <a:pathLst>
              <a:path w="9144000" h="3326765">
                <a:moveTo>
                  <a:pt x="0" y="3326511"/>
                </a:moveTo>
                <a:lnTo>
                  <a:pt x="9144000" y="3326511"/>
                </a:lnTo>
                <a:lnTo>
                  <a:pt x="9144000" y="0"/>
                </a:lnTo>
                <a:lnTo>
                  <a:pt x="0" y="0"/>
                </a:lnTo>
                <a:lnTo>
                  <a:pt x="0" y="3326511"/>
                </a:lnTo>
                <a:close/>
              </a:path>
            </a:pathLst>
          </a:custGeom>
          <a:solidFill>
            <a:srgbClr val="5F7C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3326765"/>
          </a:xfrm>
          <a:custGeom>
            <a:avLst/>
            <a:gdLst/>
            <a:ahLst/>
            <a:cxnLst/>
            <a:rect l="l" t="t" r="r" b="b"/>
            <a:pathLst>
              <a:path w="9144000" h="3326765">
                <a:moveTo>
                  <a:pt x="0" y="0"/>
                </a:moveTo>
                <a:lnTo>
                  <a:pt x="0" y="3326511"/>
                </a:lnTo>
                <a:lnTo>
                  <a:pt x="9144000" y="3326511"/>
                </a:lnTo>
              </a:path>
            </a:pathLst>
          </a:custGeom>
          <a:ln w="25400">
            <a:solidFill>
              <a:srgbClr val="2330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24916" y="980947"/>
            <a:ext cx="765175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sz="5400" spc="-310" dirty="0">
                <a:solidFill>
                  <a:srgbClr val="FFFFFF"/>
                </a:solidFill>
              </a:rPr>
              <a:t>Data</a:t>
            </a:r>
            <a:r>
              <a:rPr sz="5400" spc="25" dirty="0">
                <a:solidFill>
                  <a:srgbClr val="FFFFFF"/>
                </a:solidFill>
              </a:rPr>
              <a:t> </a:t>
            </a:r>
            <a:r>
              <a:rPr sz="5400" spc="-280" dirty="0">
                <a:solidFill>
                  <a:srgbClr val="FFFFFF"/>
                </a:solidFill>
              </a:rPr>
              <a:t>Analyst</a:t>
            </a:r>
            <a:r>
              <a:rPr sz="5400" spc="40" dirty="0">
                <a:solidFill>
                  <a:srgbClr val="FFFFFF"/>
                </a:solidFill>
              </a:rPr>
              <a:t> </a:t>
            </a:r>
            <a:r>
              <a:rPr sz="5400" spc="-295" dirty="0">
                <a:solidFill>
                  <a:srgbClr val="FFFFFF"/>
                </a:solidFill>
              </a:rPr>
              <a:t>Internship:</a:t>
            </a:r>
            <a:endParaRPr sz="5400"/>
          </a:p>
          <a:p>
            <a:pPr algn="ctr">
              <a:lnSpc>
                <a:spcPct val="100000"/>
              </a:lnSpc>
            </a:pPr>
            <a:r>
              <a:rPr sz="5400" spc="-470" dirty="0">
                <a:solidFill>
                  <a:srgbClr val="FFFFFF"/>
                </a:solidFill>
              </a:rPr>
              <a:t>A</a:t>
            </a:r>
            <a:r>
              <a:rPr sz="5400" spc="15" dirty="0">
                <a:solidFill>
                  <a:srgbClr val="FFFFFF"/>
                </a:solidFill>
              </a:rPr>
              <a:t> </a:t>
            </a:r>
            <a:r>
              <a:rPr sz="5400" dirty="0">
                <a:solidFill>
                  <a:srgbClr val="FFFFFF"/>
                </a:solidFill>
              </a:rPr>
              <a:t>4</a:t>
            </a:r>
            <a:r>
              <a:rPr sz="5400" spc="-155" dirty="0">
                <a:solidFill>
                  <a:srgbClr val="FFFFFF"/>
                </a:solidFill>
              </a:rPr>
              <a:t> </a:t>
            </a:r>
            <a:r>
              <a:rPr sz="5400" spc="-555" dirty="0">
                <a:solidFill>
                  <a:srgbClr val="FFFFFF"/>
                </a:solidFill>
              </a:rPr>
              <a:t>Month</a:t>
            </a:r>
            <a:r>
              <a:rPr sz="5400" spc="15" dirty="0">
                <a:solidFill>
                  <a:srgbClr val="FFFFFF"/>
                </a:solidFill>
              </a:rPr>
              <a:t> </a:t>
            </a:r>
            <a:r>
              <a:rPr sz="5400" spc="-180" dirty="0">
                <a:solidFill>
                  <a:srgbClr val="FFFFFF"/>
                </a:solidFill>
              </a:rPr>
              <a:t>Upskilling</a:t>
            </a:r>
            <a:r>
              <a:rPr sz="5400" spc="-20" dirty="0">
                <a:solidFill>
                  <a:srgbClr val="FFFFFF"/>
                </a:solidFill>
              </a:rPr>
              <a:t> </a:t>
            </a:r>
            <a:r>
              <a:rPr sz="5400" spc="-430" dirty="0">
                <a:solidFill>
                  <a:srgbClr val="FFFFFF"/>
                </a:solidFill>
              </a:rPr>
              <a:t>Roadmap</a:t>
            </a:r>
            <a:endParaRPr sz="5400"/>
          </a:p>
        </p:txBody>
      </p:sp>
      <p:sp>
        <p:nvSpPr>
          <p:cNvPr id="5" name="object 5"/>
          <p:cNvSpPr txBox="1"/>
          <p:nvPr/>
        </p:nvSpPr>
        <p:spPr>
          <a:xfrm>
            <a:off x="3291332" y="3441572"/>
            <a:ext cx="2562860" cy="81851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 marR="5080" indent="307340">
              <a:lnSpc>
                <a:spcPts val="1920"/>
              </a:lnSpc>
              <a:spcBef>
                <a:spcPts val="565"/>
              </a:spcBef>
            </a:pPr>
            <a:r>
              <a:rPr sz="2000" spc="-200" dirty="0">
                <a:solidFill>
                  <a:srgbClr val="424242"/>
                </a:solidFill>
                <a:latin typeface="Calibri"/>
                <a:cs typeface="Calibri"/>
              </a:rPr>
              <a:t>Name</a:t>
            </a:r>
            <a:r>
              <a:rPr sz="2000" spc="-1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000" spc="-150" dirty="0">
                <a:solidFill>
                  <a:srgbClr val="424242"/>
                </a:solidFill>
                <a:latin typeface="Calibri"/>
                <a:cs typeface="Calibri"/>
              </a:rPr>
              <a:t>:</a:t>
            </a:r>
            <a:r>
              <a:rPr sz="2000" spc="1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sz="2000" spc="-105" dirty="0" smtClean="0">
                <a:solidFill>
                  <a:srgbClr val="424242"/>
                </a:solidFill>
                <a:latin typeface="Calibri"/>
                <a:cs typeface="Calibri"/>
              </a:rPr>
              <a:t>Rashmi Thakur</a:t>
            </a:r>
            <a:r>
              <a:rPr sz="2000" spc="-20" dirty="0" smtClean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000" spc="-105" dirty="0">
                <a:solidFill>
                  <a:srgbClr val="424242"/>
                </a:solidFill>
                <a:latin typeface="Calibri"/>
                <a:cs typeface="Calibri"/>
              </a:rPr>
              <a:t>Role</a:t>
            </a:r>
            <a:r>
              <a:rPr sz="2000" spc="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000" spc="-155" dirty="0">
                <a:solidFill>
                  <a:srgbClr val="424242"/>
                </a:solidFill>
                <a:latin typeface="Calibri"/>
                <a:cs typeface="Calibri"/>
              </a:rPr>
              <a:t>:</a:t>
            </a:r>
            <a:r>
              <a:rPr sz="2000" spc="1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000" spc="-114" dirty="0">
                <a:solidFill>
                  <a:srgbClr val="424242"/>
                </a:solidFill>
                <a:latin typeface="Calibri"/>
                <a:cs typeface="Calibri"/>
              </a:rPr>
              <a:t>Data</a:t>
            </a:r>
            <a:r>
              <a:rPr sz="20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000" spc="-105" dirty="0">
                <a:solidFill>
                  <a:srgbClr val="424242"/>
                </a:solidFill>
                <a:latin typeface="Calibri"/>
                <a:cs typeface="Calibri"/>
              </a:rPr>
              <a:t>Analyst</a:t>
            </a:r>
            <a:r>
              <a:rPr sz="2000" spc="2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000" spc="-40" dirty="0">
                <a:solidFill>
                  <a:srgbClr val="424242"/>
                </a:solidFill>
                <a:latin typeface="Calibri"/>
                <a:cs typeface="Calibri"/>
              </a:rPr>
              <a:t>Trainee </a:t>
            </a:r>
            <a:r>
              <a:rPr sz="2000" spc="-160" dirty="0">
                <a:solidFill>
                  <a:srgbClr val="424242"/>
                </a:solidFill>
                <a:latin typeface="Calibri"/>
                <a:cs typeface="Calibri"/>
              </a:rPr>
              <a:t>Company</a:t>
            </a:r>
            <a:r>
              <a:rPr sz="2000" spc="-1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000" spc="-150" dirty="0">
                <a:solidFill>
                  <a:srgbClr val="424242"/>
                </a:solidFill>
                <a:latin typeface="Calibri"/>
                <a:cs typeface="Calibri"/>
              </a:rPr>
              <a:t>:</a:t>
            </a:r>
            <a:r>
              <a:rPr sz="2000" spc="1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424242"/>
                </a:solidFill>
                <a:latin typeface="Calibri"/>
                <a:cs typeface="Calibri"/>
              </a:rPr>
              <a:t>IDS</a:t>
            </a:r>
            <a:r>
              <a:rPr sz="20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000" spc="-110" dirty="0" err="1">
                <a:solidFill>
                  <a:srgbClr val="424242"/>
                </a:solidFill>
                <a:latin typeface="Calibri"/>
                <a:cs typeface="Calibri"/>
              </a:rPr>
              <a:t>infotech</a:t>
            </a:r>
            <a:r>
              <a:rPr sz="2000" spc="1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000" spc="-85" dirty="0">
                <a:solidFill>
                  <a:srgbClr val="424242"/>
                </a:solidFill>
                <a:latin typeface="Calibri"/>
                <a:cs typeface="Calibri"/>
              </a:rPr>
              <a:t>Ltd.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9725" rIns="0" bIns="0" rtlCol="0">
            <a:spAutoFit/>
          </a:bodyPr>
          <a:lstStyle/>
          <a:p>
            <a:pPr marL="2532380">
              <a:lnSpc>
                <a:spcPct val="100000"/>
              </a:lnSpc>
              <a:spcBef>
                <a:spcPts val="100"/>
              </a:spcBef>
            </a:pPr>
            <a:r>
              <a:rPr spc="-245" dirty="0"/>
              <a:t>About</a:t>
            </a:r>
            <a:r>
              <a:rPr spc="25" dirty="0"/>
              <a:t> </a:t>
            </a:r>
            <a:r>
              <a:rPr spc="-195" dirty="0"/>
              <a:t>the</a:t>
            </a:r>
            <a:r>
              <a:rPr spc="30" dirty="0"/>
              <a:t> </a:t>
            </a:r>
            <a:r>
              <a:rPr spc="-210" dirty="0"/>
              <a:t>Company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2560" y="2043810"/>
            <a:ext cx="4363720" cy="17979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980" indent="-92075">
              <a:lnSpc>
                <a:spcPct val="100000"/>
              </a:lnSpc>
              <a:spcBef>
                <a:spcPts val="100"/>
              </a:spcBef>
              <a:buSzPct val="63888"/>
              <a:buChar char="•"/>
              <a:tabLst>
                <a:tab pos="93980" algn="l"/>
              </a:tabLst>
            </a:pPr>
            <a:r>
              <a:rPr sz="1800" spc="-20" dirty="0">
                <a:solidFill>
                  <a:srgbClr val="006FC0"/>
                </a:solidFill>
                <a:latin typeface="Calibri"/>
                <a:cs typeface="Calibri"/>
              </a:rPr>
              <a:t>IDS</a:t>
            </a:r>
            <a:r>
              <a:rPr sz="1800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spc="-105" dirty="0">
                <a:solidFill>
                  <a:srgbClr val="006FC0"/>
                </a:solidFill>
                <a:latin typeface="Calibri"/>
                <a:cs typeface="Calibri"/>
              </a:rPr>
              <a:t>Infotech</a:t>
            </a:r>
            <a:r>
              <a:rPr sz="1800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spc="-10" dirty="0" smtClean="0">
                <a:solidFill>
                  <a:srgbClr val="006FC0"/>
                </a:solidFill>
                <a:latin typeface="Calibri"/>
                <a:cs typeface="Calibri"/>
              </a:rPr>
              <a:t>Limited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SzPct val="93750"/>
              <a:tabLst>
                <a:tab pos="83820" algn="l"/>
              </a:tabLst>
            </a:pP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sz="1400" spc="-2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400" spc="-3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Rajiv</a:t>
            </a:r>
            <a:r>
              <a:rPr sz="1400" spc="-4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Gandhi IT</a:t>
            </a:r>
            <a:r>
              <a:rPr sz="1400" spc="-1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Park,</a:t>
            </a:r>
            <a:r>
              <a:rPr sz="1400" spc="-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Chandigarh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400685">
              <a:lnSpc>
                <a:spcPct val="100000"/>
              </a:lnSpc>
              <a:buSzPct val="93750"/>
              <a:tabLst>
                <a:tab pos="83820" algn="l"/>
              </a:tabLst>
            </a:pP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Works</a:t>
            </a:r>
            <a:r>
              <a:rPr sz="1400" spc="-2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400" spc="-4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areas</a:t>
            </a:r>
            <a:r>
              <a:rPr sz="1400" spc="-2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sz="1400" spc="-5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400" spc="-4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analytics,</a:t>
            </a:r>
            <a:r>
              <a:rPr sz="1400" spc="-2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pharma,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publishing,</a:t>
            </a:r>
            <a:r>
              <a:rPr sz="1400" spc="-4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-2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legal</a:t>
            </a:r>
            <a:r>
              <a:rPr sz="1400" spc="-3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" marR="5080">
              <a:lnSpc>
                <a:spcPct val="100000"/>
              </a:lnSpc>
              <a:buSzPct val="90625"/>
              <a:tabLst>
                <a:tab pos="83185" algn="l"/>
              </a:tabLst>
            </a:pP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IDS</a:t>
            </a:r>
            <a:r>
              <a:rPr sz="1400" spc="-4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Infotech</a:t>
            </a:r>
            <a:r>
              <a:rPr sz="1400" spc="-1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sz="1400" spc="-3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  <a:r>
              <a:rPr sz="1400" spc="-4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400" spc="-4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sz="1400" spc="-2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management,</a:t>
            </a:r>
            <a:r>
              <a:rPr sz="1400" spc="-5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</a:t>
            </a:r>
            <a:r>
              <a:rPr sz="1400" spc="-8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solutions,</a:t>
            </a:r>
            <a:r>
              <a:rPr sz="1400" spc="-8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management,</a:t>
            </a:r>
            <a:r>
              <a:rPr sz="1400" spc="-6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sustainability,</a:t>
            </a:r>
            <a:r>
              <a:rPr sz="1400" spc="-6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-8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design,</a:t>
            </a:r>
            <a:r>
              <a:rPr sz="1400" spc="-4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helping</a:t>
            </a:r>
            <a:r>
              <a:rPr sz="1400" spc="-6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businesses</a:t>
            </a:r>
            <a:r>
              <a:rPr sz="1400" spc="-6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</a:t>
            </a:r>
            <a:r>
              <a:rPr sz="1400" spc="-3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efficiency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sz="1400" spc="-1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r>
              <a:rPr sz="1400" spc="-4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-3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06296" y="316173"/>
            <a:ext cx="1288956" cy="61127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36235" y="1323238"/>
            <a:ext cx="4044188" cy="3598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9725" rIns="0" bIns="0" rtlCol="0">
            <a:spAutoFit/>
          </a:bodyPr>
          <a:lstStyle/>
          <a:p>
            <a:pPr marL="1657350">
              <a:lnSpc>
                <a:spcPct val="100000"/>
              </a:lnSpc>
              <a:spcBef>
                <a:spcPts val="100"/>
              </a:spcBef>
            </a:pPr>
            <a:r>
              <a:rPr spc="-265" dirty="0"/>
              <a:t>Week</a:t>
            </a:r>
            <a:r>
              <a:rPr spc="5" dirty="0"/>
              <a:t> </a:t>
            </a:r>
            <a:r>
              <a:rPr spc="-195" dirty="0"/>
              <a:t>1–</a:t>
            </a:r>
            <a:r>
              <a:rPr dirty="0"/>
              <a:t>2</a:t>
            </a:r>
            <a:r>
              <a:rPr spc="-5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130" dirty="0"/>
              <a:t>Excel</a:t>
            </a:r>
            <a:r>
              <a:rPr spc="-25" dirty="0"/>
              <a:t> </a:t>
            </a:r>
            <a:r>
              <a:rPr spc="-180" dirty="0"/>
              <a:t>Fundamentals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4850" y="1684680"/>
            <a:ext cx="8103870" cy="2201244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325"/>
              </a:spcBef>
              <a:buSzPct val="138461"/>
              <a:buFont typeface="Wingdings" panose="05000000000000000000" pitchFamily="2" charset="2"/>
              <a:buChar char="§"/>
              <a:tabLst>
                <a:tab pos="354330" algn="l"/>
              </a:tabLst>
            </a:pPr>
            <a:r>
              <a:rPr sz="1200" b="1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200" b="1" spc="-2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 &amp;</a:t>
            </a:r>
            <a:r>
              <a:rPr sz="1200" b="1" spc="-3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Basics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4150" marR="5080" indent="-171450">
              <a:lnSpc>
                <a:spcPts val="1800"/>
              </a:lnSpc>
              <a:spcBef>
                <a:spcPts val="90"/>
              </a:spcBef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sz="1200" spc="-2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200" spc="-3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sz="1200" spc="-4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sz="1200" spc="-3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(rows,</a:t>
            </a:r>
            <a:r>
              <a:rPr sz="1200" spc="-3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columns,</a:t>
            </a:r>
            <a:r>
              <a:rPr sz="1200" spc="-2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sheets),Data entry,</a:t>
            </a:r>
            <a:r>
              <a:rPr sz="1200" spc="-4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formatting,</a:t>
            </a:r>
            <a:r>
              <a:rPr sz="1200" spc="-2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sorting</a:t>
            </a:r>
            <a:r>
              <a:rPr sz="1200" spc="-2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200" spc="-4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filtering</a:t>
            </a:r>
            <a:r>
              <a:rPr sz="1200" spc="-4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,Data</a:t>
            </a:r>
            <a:r>
              <a:rPr sz="1200" spc="-2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  <a:r>
              <a:rPr sz="1200" spc="-4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(remove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duplicates,</a:t>
            </a:r>
            <a:r>
              <a:rPr sz="1200" spc="-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sz="1200" spc="-1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200" spc="-1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columns)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00000"/>
              </a:lnSpc>
              <a:spcBef>
                <a:spcPts val="345"/>
              </a:spcBef>
              <a:buFont typeface="Wingdings" panose="05000000000000000000" pitchFamily="2" charset="2"/>
              <a:buChar char="§"/>
            </a:pP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330" indent="-341630">
              <a:lnSpc>
                <a:spcPct val="100000"/>
              </a:lnSpc>
              <a:buSzPct val="138461"/>
              <a:buFont typeface="Wingdings" panose="05000000000000000000" pitchFamily="2" charset="2"/>
              <a:buChar char="§"/>
              <a:tabLst>
                <a:tab pos="354330" algn="l"/>
              </a:tabLst>
            </a:pPr>
            <a:r>
              <a:rPr sz="1200" b="1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sz="1200" b="1" spc="-1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200" b="1" spc="-3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Formulas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4150" marR="3233420" indent="-171450">
              <a:lnSpc>
                <a:spcPts val="1800"/>
              </a:lnSpc>
              <a:spcBef>
                <a:spcPts val="85"/>
              </a:spcBef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</a:t>
            </a:r>
            <a:r>
              <a:rPr sz="1200" spc="-3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formulas:</a:t>
            </a:r>
            <a:r>
              <a:rPr sz="1200" spc="-2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SUM,</a:t>
            </a:r>
            <a:r>
              <a:rPr sz="1200" spc="-3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AVERAGE,</a:t>
            </a:r>
            <a:r>
              <a:rPr sz="1200" spc="-1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sz="1200" spc="-3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,Logical</a:t>
            </a:r>
            <a:r>
              <a:rPr sz="1200" spc="-3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functions:</a:t>
            </a:r>
            <a:r>
              <a:rPr sz="12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IF,</a:t>
            </a:r>
            <a:r>
              <a:rPr sz="1200" spc="-3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nested</a:t>
            </a:r>
            <a:r>
              <a:rPr sz="1200" spc="-1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1200" spc="-4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5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Lookup</a:t>
            </a:r>
            <a:r>
              <a:rPr sz="1200" spc="-4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functions:</a:t>
            </a:r>
            <a:r>
              <a:rPr sz="1200" spc="-3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VLOOKUP,</a:t>
            </a:r>
            <a:r>
              <a:rPr sz="1200" spc="-3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XLOOKUP,</a:t>
            </a:r>
            <a:r>
              <a:rPr sz="1200" spc="-4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INDEX-MATCH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00000"/>
              </a:lnSpc>
              <a:spcBef>
                <a:spcPts val="345"/>
              </a:spcBef>
              <a:buFont typeface="Wingdings" panose="05000000000000000000" pitchFamily="2" charset="2"/>
              <a:buChar char="§"/>
            </a:pP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330" indent="-341630">
              <a:lnSpc>
                <a:spcPct val="100000"/>
              </a:lnSpc>
              <a:buSzPct val="138461"/>
              <a:buFont typeface="Wingdings" panose="05000000000000000000" pitchFamily="2" charset="2"/>
              <a:buChar char="§"/>
              <a:tabLst>
                <a:tab pos="354330" algn="l"/>
              </a:tabLst>
            </a:pPr>
            <a:r>
              <a:rPr sz="1200" b="1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200" b="1" spc="-2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4150" indent="-171450">
              <a:lnSpc>
                <a:spcPct val="100000"/>
              </a:lnSpc>
              <a:spcBef>
                <a:spcPts val="229"/>
              </a:spcBef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Pivot</a:t>
            </a:r>
            <a:r>
              <a:rPr sz="1200" spc="-3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r>
              <a:rPr sz="1200" spc="-3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(creation,</a:t>
            </a:r>
            <a:r>
              <a:rPr sz="1200" spc="-2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grouping,</a:t>
            </a:r>
            <a:r>
              <a:rPr sz="1200" spc="-2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filtering),</a:t>
            </a:r>
            <a:r>
              <a:rPr sz="1200" spc="-3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Pivot</a:t>
            </a:r>
            <a:r>
              <a:rPr sz="1200" spc="-2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  <a:r>
              <a:rPr sz="1200" spc="-2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200" spc="-4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r>
              <a:rPr sz="12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200" spc="-4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</a:t>
            </a:r>
            <a:r>
              <a:rPr sz="1200" spc="-2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Formatting</a:t>
            </a:r>
            <a:r>
              <a:rPr sz="1200" spc="-1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200" spc="-3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7423" y="4208957"/>
            <a:ext cx="7995284" cy="177165"/>
          </a:xfrm>
          <a:prstGeom prst="rect">
            <a:avLst/>
          </a:prstGeom>
          <a:solidFill>
            <a:srgbClr val="C0C0C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100" b="1" dirty="0">
                <a:solidFill>
                  <a:srgbClr val="424242"/>
                </a:solidFill>
                <a:latin typeface="Courier New"/>
                <a:cs typeface="Courier New"/>
              </a:rPr>
              <a:t>Project</a:t>
            </a:r>
            <a:r>
              <a:rPr sz="1100" b="1" spc="-3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424242"/>
                </a:solidFill>
                <a:latin typeface="Courier New"/>
                <a:cs typeface="Courier New"/>
              </a:rPr>
              <a:t>:</a:t>
            </a:r>
            <a:r>
              <a:rPr sz="1100" b="1" spc="-4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424242"/>
                </a:solidFill>
                <a:latin typeface="Courier New"/>
                <a:cs typeface="Courier New"/>
              </a:rPr>
              <a:t>To</a:t>
            </a:r>
            <a:r>
              <a:rPr sz="1100" spc="-3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424242"/>
                </a:solidFill>
                <a:latin typeface="Courier New"/>
                <a:cs typeface="Courier New"/>
              </a:rPr>
              <a:t>design</a:t>
            </a:r>
            <a:r>
              <a:rPr sz="1100" spc="-4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424242"/>
                </a:solidFill>
                <a:latin typeface="Courier New"/>
                <a:cs typeface="Courier New"/>
              </a:rPr>
              <a:t>a</a:t>
            </a:r>
            <a:r>
              <a:rPr sz="1100" spc="-3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424242"/>
                </a:solidFill>
                <a:latin typeface="Courier New"/>
                <a:cs typeface="Courier New"/>
              </a:rPr>
              <a:t>basic</a:t>
            </a:r>
            <a:r>
              <a:rPr sz="1100" b="1" spc="-4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424242"/>
                </a:solidFill>
                <a:latin typeface="Courier New"/>
                <a:cs typeface="Courier New"/>
              </a:rPr>
              <a:t>interactive</a:t>
            </a:r>
            <a:r>
              <a:rPr sz="1100" b="1" spc="-4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424242"/>
                </a:solidFill>
                <a:latin typeface="Courier New"/>
                <a:cs typeface="Courier New"/>
              </a:rPr>
              <a:t>dashboard</a:t>
            </a:r>
            <a:r>
              <a:rPr sz="1100" b="1" spc="-4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424242"/>
                </a:solidFill>
                <a:latin typeface="Courier New"/>
                <a:cs typeface="Courier New"/>
              </a:rPr>
              <a:t>in</a:t>
            </a:r>
            <a:r>
              <a:rPr sz="1100" b="1" spc="-3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424242"/>
                </a:solidFill>
                <a:latin typeface="Courier New"/>
                <a:cs typeface="Courier New"/>
              </a:rPr>
              <a:t>Excel</a:t>
            </a:r>
            <a:r>
              <a:rPr sz="1100" b="1" spc="-4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424242"/>
                </a:solidFill>
                <a:latin typeface="Courier New"/>
                <a:cs typeface="Courier New"/>
              </a:rPr>
              <a:t>for</a:t>
            </a:r>
            <a:r>
              <a:rPr sz="1100" spc="-4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424242"/>
                </a:solidFill>
                <a:latin typeface="Courier New"/>
                <a:cs typeface="Courier New"/>
              </a:rPr>
              <a:t>data</a:t>
            </a:r>
            <a:r>
              <a:rPr sz="1100" spc="-4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424242"/>
                </a:solidFill>
                <a:latin typeface="Courier New"/>
                <a:cs typeface="Courier New"/>
              </a:rPr>
              <a:t>visualization</a:t>
            </a:r>
            <a:r>
              <a:rPr sz="1100" spc="-4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424242"/>
                </a:solidFill>
                <a:latin typeface="Courier New"/>
                <a:cs typeface="Courier New"/>
              </a:rPr>
              <a:t>and</a:t>
            </a:r>
            <a:r>
              <a:rPr sz="1100" spc="-4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424242"/>
                </a:solidFill>
                <a:latin typeface="Courier New"/>
                <a:cs typeface="Courier New"/>
              </a:rPr>
              <a:t>reporting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219" y="728598"/>
            <a:ext cx="8675624" cy="41690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9570" rIns="0" bIns="0" rtlCol="0">
            <a:spAutoFit/>
          </a:bodyPr>
          <a:lstStyle/>
          <a:p>
            <a:pPr marL="2068830">
              <a:lnSpc>
                <a:spcPct val="100000"/>
              </a:lnSpc>
              <a:spcBef>
                <a:spcPts val="95"/>
              </a:spcBef>
            </a:pPr>
            <a:r>
              <a:rPr sz="2800" spc="-254" dirty="0"/>
              <a:t>Week</a:t>
            </a:r>
            <a:r>
              <a:rPr sz="2800" spc="5" dirty="0"/>
              <a:t> </a:t>
            </a:r>
            <a:r>
              <a:rPr sz="2800" spc="-80" dirty="0"/>
              <a:t>3–</a:t>
            </a:r>
            <a:r>
              <a:rPr sz="2800" spc="-120" dirty="0"/>
              <a:t>4:</a:t>
            </a:r>
            <a:r>
              <a:rPr sz="2800" spc="-10" dirty="0"/>
              <a:t> </a:t>
            </a:r>
            <a:r>
              <a:rPr sz="2800" spc="-135" dirty="0"/>
              <a:t>SQL</a:t>
            </a:r>
            <a:r>
              <a:rPr sz="2800" spc="10" dirty="0"/>
              <a:t> </a:t>
            </a:r>
            <a:r>
              <a:rPr sz="2800" spc="-175" dirty="0"/>
              <a:t>Fundamentals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93039" y="1483867"/>
            <a:ext cx="4394835" cy="1439497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425"/>
              </a:spcBef>
              <a:buFont typeface="Wingdings" panose="05000000000000000000" pitchFamily="2" charset="2"/>
              <a:buChar char="§"/>
              <a:tabLst>
                <a:tab pos="354330" algn="l"/>
              </a:tabLst>
            </a:pP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sz="1600" spc="-4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r>
              <a:rPr sz="1600" spc="-4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(SELECT,</a:t>
            </a:r>
            <a:r>
              <a:rPr sz="1600" spc="-3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WHERE,</a:t>
            </a:r>
            <a:r>
              <a:rPr sz="1600" spc="-3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sz="1600" spc="-3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BY)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330" indent="-341630">
              <a:lnSpc>
                <a:spcPct val="100000"/>
              </a:lnSpc>
              <a:spcBef>
                <a:spcPts val="320"/>
              </a:spcBef>
              <a:buFont typeface="Wingdings" panose="05000000000000000000" pitchFamily="2" charset="2"/>
              <a:buChar char="§"/>
              <a:tabLst>
                <a:tab pos="354330" algn="l"/>
              </a:tabLst>
            </a:pP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Joins</a:t>
            </a:r>
            <a:r>
              <a:rPr sz="1600" spc="-2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(INNER,</a:t>
            </a:r>
            <a:r>
              <a:rPr sz="1600" spc="-2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LEFT,</a:t>
            </a:r>
            <a:r>
              <a:rPr sz="1600" spc="-2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RIGHT)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330" indent="-341630">
              <a:lnSpc>
                <a:spcPct val="100000"/>
              </a:lnSpc>
              <a:spcBef>
                <a:spcPts val="325"/>
              </a:spcBef>
              <a:buFont typeface="Wingdings" panose="05000000000000000000" pitchFamily="2" charset="2"/>
              <a:buChar char="§"/>
              <a:tabLst>
                <a:tab pos="354330" algn="l"/>
              </a:tabLst>
            </a:pP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Aggregations</a:t>
            </a:r>
            <a:r>
              <a:rPr sz="1600" spc="-3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(GROUP</a:t>
            </a:r>
            <a:r>
              <a:rPr sz="1600" spc="-2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BY,</a:t>
            </a:r>
            <a:r>
              <a:rPr sz="1600" spc="-1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HAVING)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330" indent="-341630">
              <a:lnSpc>
                <a:spcPct val="100000"/>
              </a:lnSpc>
              <a:spcBef>
                <a:spcPts val="325"/>
              </a:spcBef>
              <a:buFont typeface="Wingdings" panose="05000000000000000000" pitchFamily="2" charset="2"/>
              <a:buChar char="§"/>
              <a:tabLst>
                <a:tab pos="354330" algn="l"/>
              </a:tabLst>
            </a:pP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Subqueries</a:t>
            </a:r>
            <a:r>
              <a:rPr sz="1600" spc="-5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600" spc="-6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Nested</a:t>
            </a:r>
            <a:r>
              <a:rPr sz="1600" spc="-6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330" indent="-341630">
              <a:lnSpc>
                <a:spcPct val="100000"/>
              </a:lnSpc>
              <a:spcBef>
                <a:spcPts val="325"/>
              </a:spcBef>
              <a:buFont typeface="Wingdings" panose="05000000000000000000" pitchFamily="2" charset="2"/>
              <a:buChar char="§"/>
              <a:tabLst>
                <a:tab pos="354330" algn="l"/>
              </a:tabLst>
            </a:pP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DML</a:t>
            </a:r>
            <a:r>
              <a:rPr sz="16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r>
              <a:rPr sz="1600" spc="-2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(INSERT,</a:t>
            </a:r>
            <a:r>
              <a:rPr sz="1600" spc="-3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UPDATE,</a:t>
            </a:r>
            <a:r>
              <a:rPr sz="1600" spc="-3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DELETE)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727" y="3849027"/>
            <a:ext cx="8415020" cy="224154"/>
          </a:xfrm>
          <a:prstGeom prst="rect">
            <a:avLst/>
          </a:prstGeom>
          <a:solidFill>
            <a:srgbClr val="C0C0C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400" b="1" dirty="0">
                <a:solidFill>
                  <a:srgbClr val="424242"/>
                </a:solidFill>
                <a:latin typeface="Courier New"/>
                <a:cs typeface="Courier New"/>
              </a:rPr>
              <a:t>Project</a:t>
            </a:r>
            <a:r>
              <a:rPr sz="1400" b="1" spc="-4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424242"/>
                </a:solidFill>
                <a:latin typeface="Courier New"/>
                <a:cs typeface="Courier New"/>
              </a:rPr>
              <a:t>:</a:t>
            </a:r>
            <a:r>
              <a:rPr sz="1400" b="1" spc="-3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To</a:t>
            </a:r>
            <a:r>
              <a:rPr sz="1400" spc="-3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extract,</a:t>
            </a:r>
            <a:r>
              <a:rPr sz="1400" spc="-4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manipulate,</a:t>
            </a:r>
            <a:r>
              <a:rPr sz="1400" spc="-3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and</a:t>
            </a:r>
            <a:r>
              <a:rPr sz="1400" spc="-3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analyze</a:t>
            </a:r>
            <a:r>
              <a:rPr sz="1400" spc="-3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structured</a:t>
            </a:r>
            <a:r>
              <a:rPr sz="1400" spc="-3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data</a:t>
            </a:r>
            <a:r>
              <a:rPr sz="1400" spc="-3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using</a:t>
            </a:r>
            <a:r>
              <a:rPr sz="1400" spc="-3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SQL</a:t>
            </a:r>
            <a:r>
              <a:rPr sz="1400" spc="-3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424242"/>
                </a:solidFill>
                <a:latin typeface="Courier New"/>
                <a:cs typeface="Courier New"/>
              </a:rPr>
              <a:t>queries</a:t>
            </a:r>
            <a:endParaRPr sz="1400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8292" y="1190625"/>
            <a:ext cx="1964182" cy="19857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40" dirty="0"/>
              <a:t>Week</a:t>
            </a:r>
            <a:r>
              <a:rPr sz="2700" spc="25" dirty="0"/>
              <a:t> </a:t>
            </a:r>
            <a:r>
              <a:rPr sz="2700" spc="-65" dirty="0"/>
              <a:t>5–</a:t>
            </a:r>
            <a:r>
              <a:rPr sz="2700" dirty="0"/>
              <a:t>8</a:t>
            </a:r>
            <a:r>
              <a:rPr sz="2700" spc="45" dirty="0"/>
              <a:t> </a:t>
            </a:r>
            <a:r>
              <a:rPr sz="2700" spc="-204" dirty="0"/>
              <a:t>:</a:t>
            </a:r>
            <a:r>
              <a:rPr sz="2700" spc="45" dirty="0"/>
              <a:t> </a:t>
            </a:r>
            <a:r>
              <a:rPr sz="2700" spc="-165" dirty="0"/>
              <a:t>End-</a:t>
            </a:r>
            <a:r>
              <a:rPr sz="2700" spc="-110" dirty="0"/>
              <a:t>to-</a:t>
            </a:r>
            <a:r>
              <a:rPr sz="2700" spc="-229" dirty="0"/>
              <a:t>End</a:t>
            </a:r>
            <a:r>
              <a:rPr sz="2700" spc="45" dirty="0"/>
              <a:t> </a:t>
            </a:r>
            <a:r>
              <a:rPr sz="2700" spc="-185" dirty="0"/>
              <a:t>Dashboard</a:t>
            </a:r>
            <a:r>
              <a:rPr sz="2700" spc="15" dirty="0"/>
              <a:t> </a:t>
            </a:r>
            <a:r>
              <a:rPr sz="2700" spc="-210" dirty="0"/>
              <a:t>Development</a:t>
            </a:r>
            <a:r>
              <a:rPr sz="2700" spc="30" dirty="0"/>
              <a:t> </a:t>
            </a:r>
            <a:r>
              <a:rPr sz="2700" spc="-160" dirty="0"/>
              <a:t>with</a:t>
            </a:r>
            <a:r>
              <a:rPr sz="2700" spc="30" dirty="0"/>
              <a:t> </a:t>
            </a:r>
            <a:r>
              <a:rPr sz="2700" spc="-220" dirty="0"/>
              <a:t>Power</a:t>
            </a:r>
            <a:r>
              <a:rPr sz="2700" spc="45" dirty="0"/>
              <a:t> </a:t>
            </a:r>
            <a:r>
              <a:rPr sz="2700" spc="-25" dirty="0"/>
              <a:t>BI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452119" y="1263986"/>
            <a:ext cx="5365115" cy="2294218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430"/>
              </a:spcBef>
              <a:buFont typeface="Wingdings" panose="05000000000000000000" pitchFamily="2" charset="2"/>
              <a:buChar char="§"/>
              <a:tabLst>
                <a:tab pos="354330" algn="l"/>
              </a:tabLst>
            </a:pP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sz="1600" spc="-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sz="1600" spc="-1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sz="1600" spc="-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6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6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Loading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330" indent="-341630">
              <a:lnSpc>
                <a:spcPct val="100000"/>
              </a:lnSpc>
              <a:spcBef>
                <a:spcPts val="325"/>
              </a:spcBef>
              <a:buFont typeface="Wingdings" panose="05000000000000000000" pitchFamily="2" charset="2"/>
              <a:buChar char="§"/>
              <a:tabLst>
                <a:tab pos="354330" algn="l"/>
              </a:tabLst>
            </a:pP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sz="1600" spc="-3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sz="1600" spc="-4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(data</a:t>
            </a:r>
            <a:r>
              <a:rPr sz="1600" spc="-1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  <a:r>
              <a:rPr sz="1600" spc="-2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600" spc="-3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transformation)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330" indent="-341630">
              <a:lnSpc>
                <a:spcPct val="100000"/>
              </a:lnSpc>
              <a:spcBef>
                <a:spcPts val="325"/>
              </a:spcBef>
              <a:buFont typeface="Wingdings" panose="05000000000000000000" pitchFamily="2" charset="2"/>
              <a:buChar char="§"/>
              <a:tabLst>
                <a:tab pos="354330" algn="l"/>
              </a:tabLst>
            </a:pP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600" spc="-3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sz="1600" spc="-2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600" spc="-3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330" indent="-341630">
              <a:lnSpc>
                <a:spcPct val="100000"/>
              </a:lnSpc>
              <a:spcBef>
                <a:spcPts val="325"/>
              </a:spcBef>
              <a:buFont typeface="Wingdings" panose="05000000000000000000" pitchFamily="2" charset="2"/>
              <a:buChar char="§"/>
              <a:tabLst>
                <a:tab pos="354330" algn="l"/>
              </a:tabLst>
            </a:pP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</a:t>
            </a:r>
            <a:r>
              <a:rPr sz="1600" spc="-6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DAX</a:t>
            </a:r>
            <a:r>
              <a:rPr sz="1600" spc="-5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(measures</a:t>
            </a:r>
            <a:r>
              <a:rPr sz="1600" spc="-4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600" spc="-5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calculated</a:t>
            </a:r>
            <a:r>
              <a:rPr sz="1600" spc="-3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columns)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330" indent="-341630">
              <a:lnSpc>
                <a:spcPct val="100000"/>
              </a:lnSpc>
              <a:spcBef>
                <a:spcPts val="325"/>
              </a:spcBef>
              <a:buFont typeface="Wingdings" panose="05000000000000000000" pitchFamily="2" charset="2"/>
              <a:buChar char="§"/>
              <a:tabLst>
                <a:tab pos="354330" algn="l"/>
              </a:tabLst>
            </a:pP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</a:t>
            </a:r>
            <a:r>
              <a:rPr sz="1600" spc="-4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DAX</a:t>
            </a:r>
            <a:r>
              <a:rPr sz="1600" spc="-3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(CALCULATE,</a:t>
            </a:r>
            <a:r>
              <a:rPr sz="1600" spc="-2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FILTER,</a:t>
            </a:r>
            <a:r>
              <a:rPr sz="1600" spc="-3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sz="1600" spc="-3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intelligence)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330" indent="-341630">
              <a:lnSpc>
                <a:spcPct val="100000"/>
              </a:lnSpc>
              <a:spcBef>
                <a:spcPts val="325"/>
              </a:spcBef>
              <a:buFont typeface="Wingdings" panose="05000000000000000000" pitchFamily="2" charset="2"/>
              <a:buChar char="§"/>
              <a:tabLst>
                <a:tab pos="354330" algn="l"/>
              </a:tabLst>
            </a:pP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</a:t>
            </a:r>
            <a:r>
              <a:rPr sz="1600" spc="-4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creation</a:t>
            </a:r>
            <a:r>
              <a:rPr sz="1600" spc="-1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600" spc="-4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sz="1600" spc="-4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330" indent="-341630">
              <a:lnSpc>
                <a:spcPct val="100000"/>
              </a:lnSpc>
              <a:spcBef>
                <a:spcPts val="320"/>
              </a:spcBef>
              <a:buFont typeface="Wingdings" panose="05000000000000000000" pitchFamily="2" charset="2"/>
              <a:buChar char="§"/>
              <a:tabLst>
                <a:tab pos="354330" algn="l"/>
              </a:tabLst>
            </a:pP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sz="1600" spc="-4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sz="1600" spc="-4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sz="1600" spc="-3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(publishing</a:t>
            </a:r>
            <a:r>
              <a:rPr sz="1600" spc="-1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dashboards)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330" indent="-341630">
              <a:lnSpc>
                <a:spcPct val="100000"/>
              </a:lnSpc>
              <a:spcBef>
                <a:spcPts val="325"/>
              </a:spcBef>
              <a:buFont typeface="Wingdings" panose="05000000000000000000" pitchFamily="2" charset="2"/>
              <a:buChar char="§"/>
              <a:tabLst>
                <a:tab pos="354330" algn="l"/>
              </a:tabLst>
            </a:pPr>
            <a:r>
              <a:rPr sz="16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Row-</a:t>
            </a:r>
            <a:r>
              <a:rPr sz="16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 Security</a:t>
            </a:r>
            <a:r>
              <a:rPr sz="1600" spc="-1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(RLS).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4807" y="4155935"/>
            <a:ext cx="7552055" cy="245745"/>
          </a:xfrm>
          <a:prstGeom prst="rect">
            <a:avLst/>
          </a:prstGeom>
          <a:solidFill>
            <a:srgbClr val="C0C0C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400" b="1" dirty="0">
                <a:solidFill>
                  <a:srgbClr val="424242"/>
                </a:solidFill>
                <a:latin typeface="Courier New"/>
                <a:cs typeface="Courier New"/>
              </a:rPr>
              <a:t>Project</a:t>
            </a:r>
            <a:r>
              <a:rPr sz="1400" b="1" spc="-4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424242"/>
                </a:solidFill>
                <a:latin typeface="Courier New"/>
                <a:cs typeface="Courier New"/>
              </a:rPr>
              <a:t>1</a:t>
            </a:r>
            <a:r>
              <a:rPr sz="1400" b="1" spc="-2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424242"/>
                </a:solidFill>
                <a:latin typeface="Courier New"/>
                <a:cs typeface="Courier New"/>
              </a:rPr>
              <a:t>:</a:t>
            </a:r>
            <a:r>
              <a:rPr sz="1400" b="1" spc="-3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424242"/>
                </a:solidFill>
                <a:latin typeface="Courier New"/>
                <a:cs typeface="Courier New"/>
              </a:rPr>
              <a:t>Create</a:t>
            </a:r>
            <a:r>
              <a:rPr sz="1400" b="1" spc="-2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424242"/>
                </a:solidFill>
                <a:latin typeface="Courier New"/>
                <a:cs typeface="Courier New"/>
              </a:rPr>
              <a:t>a</a:t>
            </a:r>
            <a:r>
              <a:rPr sz="1400" b="1" spc="-3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Power</a:t>
            </a:r>
            <a:r>
              <a:rPr sz="1400" spc="-2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BI</a:t>
            </a:r>
            <a:r>
              <a:rPr sz="1400" spc="-2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dashboard</a:t>
            </a:r>
            <a:r>
              <a:rPr sz="1400" spc="-3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that</a:t>
            </a:r>
            <a:r>
              <a:rPr sz="1400" spc="-2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provides</a:t>
            </a:r>
            <a:r>
              <a:rPr sz="1400" spc="-3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a</a:t>
            </a:r>
            <a:r>
              <a:rPr sz="1400" spc="-3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424242"/>
                </a:solidFill>
                <a:latin typeface="Courier New"/>
                <a:cs typeface="Courier New"/>
              </a:rPr>
              <a:t>comprehensive,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4807" y="4401299"/>
            <a:ext cx="6182360" cy="224154"/>
          </a:xfrm>
          <a:prstGeom prst="rect">
            <a:avLst/>
          </a:prstGeom>
          <a:solidFill>
            <a:srgbClr val="C0C0C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interactive,</a:t>
            </a:r>
            <a:r>
              <a:rPr sz="1400" spc="-4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and</a:t>
            </a:r>
            <a:r>
              <a:rPr sz="1400" spc="-2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424242"/>
                </a:solidFill>
                <a:latin typeface="Courier New"/>
                <a:cs typeface="Courier New"/>
              </a:rPr>
              <a:t>data-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driven</a:t>
            </a:r>
            <a:r>
              <a:rPr sz="1400" spc="-3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view</a:t>
            </a:r>
            <a:r>
              <a:rPr sz="1400" spc="-2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of</a:t>
            </a:r>
            <a:r>
              <a:rPr sz="1400" spc="-2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its</a:t>
            </a:r>
            <a:r>
              <a:rPr sz="1400" spc="-2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sales</a:t>
            </a:r>
            <a:r>
              <a:rPr sz="1400" spc="-3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424242"/>
                </a:solidFill>
                <a:latin typeface="Courier New"/>
                <a:cs typeface="Courier New"/>
              </a:rPr>
              <a:t>operations.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584"/>
            <a:ext cx="9144000" cy="50823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32579" y="532891"/>
            <a:ext cx="9677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5" dirty="0"/>
              <a:t>Tooltip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142"/>
            <a:ext cx="9144000" cy="50932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9725" rIns="0" bIns="0" rtlCol="0">
            <a:spAutoFit/>
          </a:bodyPr>
          <a:lstStyle/>
          <a:p>
            <a:pPr marL="706120">
              <a:lnSpc>
                <a:spcPct val="100000"/>
              </a:lnSpc>
              <a:spcBef>
                <a:spcPts val="100"/>
              </a:spcBef>
            </a:pPr>
            <a:r>
              <a:rPr spc="-265" dirty="0"/>
              <a:t>Week</a:t>
            </a:r>
            <a:r>
              <a:rPr spc="15" dirty="0"/>
              <a:t> </a:t>
            </a:r>
            <a:r>
              <a:rPr spc="-30" dirty="0"/>
              <a:t>9–</a:t>
            </a:r>
            <a:r>
              <a:rPr spc="-300" dirty="0"/>
              <a:t>11:</a:t>
            </a:r>
            <a:r>
              <a:rPr spc="5" dirty="0"/>
              <a:t> </a:t>
            </a:r>
            <a:r>
              <a:rPr spc="-175" dirty="0"/>
              <a:t>Data</a:t>
            </a:r>
            <a:r>
              <a:rPr spc="20" dirty="0"/>
              <a:t> </a:t>
            </a:r>
            <a:r>
              <a:rPr spc="-130" dirty="0"/>
              <a:t>Analysis</a:t>
            </a:r>
            <a:r>
              <a:rPr dirty="0"/>
              <a:t> </a:t>
            </a:r>
            <a:r>
              <a:rPr spc="-135" dirty="0"/>
              <a:t>using</a:t>
            </a:r>
            <a:r>
              <a:rPr spc="25" dirty="0"/>
              <a:t> </a:t>
            </a:r>
            <a:r>
              <a:rPr spc="-210" dirty="0"/>
              <a:t>Python</a:t>
            </a:r>
            <a:r>
              <a:rPr spc="5" dirty="0"/>
              <a:t> </a:t>
            </a:r>
            <a:r>
              <a:rPr spc="-250" dirty="0"/>
              <a:t>&amp;</a:t>
            </a:r>
            <a:r>
              <a:rPr spc="10" dirty="0"/>
              <a:t> </a:t>
            </a:r>
            <a:r>
              <a:rPr spc="-295" dirty="0"/>
              <a:t>EDA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505457"/>
            <a:ext cx="6100445" cy="1733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4930" indent="-69850">
              <a:lnSpc>
                <a:spcPct val="100000"/>
              </a:lnSpc>
              <a:spcBef>
                <a:spcPts val="105"/>
              </a:spcBef>
              <a:buSzPct val="92857"/>
              <a:buFont typeface="Arial"/>
              <a:buChar char="•"/>
              <a:tabLst>
                <a:tab pos="74930" algn="l"/>
              </a:tabLst>
            </a:pPr>
            <a:r>
              <a:rPr sz="1400" b="1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sz="1400" b="1" spc="-5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Fundamentals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Variables,</a:t>
            </a:r>
            <a:r>
              <a:rPr sz="1400" spc="-7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loops,</a:t>
            </a:r>
            <a:r>
              <a:rPr sz="1400" spc="-5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functions,</a:t>
            </a:r>
            <a:r>
              <a:rPr sz="1400" spc="-6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-4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</a:t>
            </a:r>
            <a:r>
              <a:rPr sz="1400" spc="-4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scripting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930" indent="-69850">
              <a:lnSpc>
                <a:spcPct val="100000"/>
              </a:lnSpc>
              <a:buSzPct val="92857"/>
              <a:buFont typeface="Arial"/>
              <a:buChar char="•"/>
              <a:tabLst>
                <a:tab pos="74930" algn="l"/>
              </a:tabLst>
            </a:pPr>
            <a:r>
              <a:rPr sz="1400" b="1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  <a:r>
              <a:rPr sz="1400" b="1" spc="-7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sz="1400" b="1" spc="-4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400" b="1" spc="-2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400" spc="-3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manipulation,</a:t>
            </a:r>
            <a:r>
              <a:rPr sz="1400" spc="-4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filtering,</a:t>
            </a:r>
            <a:r>
              <a:rPr sz="1400" spc="-4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aggregation,</a:t>
            </a:r>
            <a:r>
              <a:rPr sz="1400" spc="-4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-2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numerical</a:t>
            </a:r>
            <a:r>
              <a:rPr sz="1400" spc="-4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930" indent="-69850">
              <a:lnSpc>
                <a:spcPct val="100000"/>
              </a:lnSpc>
              <a:buSzPct val="92857"/>
              <a:buFont typeface="Arial"/>
              <a:buChar char="•"/>
              <a:tabLst>
                <a:tab pos="74930" algn="l"/>
              </a:tabLst>
            </a:pPr>
            <a:r>
              <a:rPr sz="1400" b="1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</a:t>
            </a:r>
            <a:r>
              <a:rPr sz="1400" b="1" spc="-6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Fundamentals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Mean,</a:t>
            </a:r>
            <a:r>
              <a:rPr sz="1400" spc="-5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Median,</a:t>
            </a:r>
            <a:r>
              <a:rPr sz="1400" spc="-4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</a:t>
            </a:r>
            <a:r>
              <a:rPr sz="1400" spc="-6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Deviation,</a:t>
            </a:r>
            <a:r>
              <a:rPr sz="1400" spc="-3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Distribution,</a:t>
            </a:r>
            <a:r>
              <a:rPr sz="1400" spc="-6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Correlation,</a:t>
            </a:r>
            <a:r>
              <a:rPr sz="1400" spc="-6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Outlier</a:t>
            </a:r>
            <a:r>
              <a:rPr sz="1400" spc="-4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930" indent="-69850">
              <a:lnSpc>
                <a:spcPct val="100000"/>
              </a:lnSpc>
              <a:buSzPct val="92857"/>
              <a:buFont typeface="Arial"/>
              <a:buChar char="•"/>
              <a:tabLst>
                <a:tab pos="74930" algn="l"/>
              </a:tabLst>
            </a:pPr>
            <a:r>
              <a:rPr sz="1400" b="1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400" b="1" spc="-4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">
              <a:lnSpc>
                <a:spcPct val="100000"/>
              </a:lnSpc>
            </a:pP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sz="1400" spc="-2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400" spc="-2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</a:t>
            </a:r>
            <a:r>
              <a:rPr sz="1400" spc="-5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  <a:r>
              <a:rPr sz="1400" spc="-4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-3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sz="1400" spc="-45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3136" y="3646804"/>
            <a:ext cx="8190230" cy="224154"/>
          </a:xfrm>
          <a:prstGeom prst="rect">
            <a:avLst/>
          </a:prstGeom>
          <a:solidFill>
            <a:srgbClr val="C0C0C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400" b="1" dirty="0">
                <a:solidFill>
                  <a:srgbClr val="424242"/>
                </a:solidFill>
                <a:latin typeface="Courier New"/>
                <a:cs typeface="Courier New"/>
              </a:rPr>
              <a:t>Project</a:t>
            </a:r>
            <a:r>
              <a:rPr sz="1400" b="1" spc="-3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424242"/>
                </a:solidFill>
                <a:latin typeface="Courier New"/>
                <a:cs typeface="Courier New"/>
              </a:rPr>
              <a:t>:</a:t>
            </a:r>
            <a:r>
              <a:rPr sz="1400" b="1" spc="-3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To</a:t>
            </a:r>
            <a:r>
              <a:rPr sz="1400" spc="-2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perform</a:t>
            </a:r>
            <a:r>
              <a:rPr sz="1400" spc="-4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424242"/>
                </a:solidFill>
                <a:latin typeface="Courier New"/>
                <a:cs typeface="Courier New"/>
              </a:rPr>
              <a:t>data</a:t>
            </a:r>
            <a:r>
              <a:rPr sz="1400" b="1" spc="-3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424242"/>
                </a:solidFill>
                <a:latin typeface="Courier New"/>
                <a:cs typeface="Courier New"/>
              </a:rPr>
              <a:t>analysis</a:t>
            </a:r>
            <a:r>
              <a:rPr sz="1400" b="1" spc="-3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424242"/>
                </a:solidFill>
                <a:latin typeface="Courier New"/>
                <a:cs typeface="Courier New"/>
              </a:rPr>
              <a:t>and</a:t>
            </a:r>
            <a:r>
              <a:rPr sz="1400" b="1" spc="-3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424242"/>
                </a:solidFill>
                <a:latin typeface="Courier New"/>
                <a:cs typeface="Courier New"/>
              </a:rPr>
              <a:t>exploratory</a:t>
            </a:r>
            <a:r>
              <a:rPr sz="1400" b="1" spc="-3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424242"/>
                </a:solidFill>
                <a:latin typeface="Courier New"/>
                <a:cs typeface="Courier New"/>
              </a:rPr>
              <a:t>data</a:t>
            </a:r>
            <a:r>
              <a:rPr sz="1400" b="1" spc="-3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424242"/>
                </a:solidFill>
                <a:latin typeface="Courier New"/>
                <a:cs typeface="Courier New"/>
              </a:rPr>
              <a:t>analysis</a:t>
            </a:r>
            <a:r>
              <a:rPr sz="1400" b="1" spc="-3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424242"/>
                </a:solidFill>
                <a:latin typeface="Courier New"/>
                <a:cs typeface="Courier New"/>
              </a:rPr>
              <a:t>(EDA)</a:t>
            </a:r>
            <a:r>
              <a:rPr sz="1400" b="1" spc="-3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424242"/>
                </a:solidFill>
                <a:latin typeface="Courier New"/>
                <a:cs typeface="Courier New"/>
              </a:rPr>
              <a:t>using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3136" y="3870833"/>
            <a:ext cx="7670800" cy="213360"/>
          </a:xfrm>
          <a:prstGeom prst="rect">
            <a:avLst/>
          </a:prstGeom>
          <a:solidFill>
            <a:srgbClr val="C0C0C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Python</a:t>
            </a:r>
            <a:r>
              <a:rPr sz="1400" spc="-5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in</a:t>
            </a:r>
            <a:r>
              <a:rPr sz="1400" spc="-2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order</a:t>
            </a:r>
            <a:r>
              <a:rPr sz="1400" spc="-3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to</a:t>
            </a:r>
            <a:r>
              <a:rPr sz="1400" spc="-2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uncover</a:t>
            </a:r>
            <a:r>
              <a:rPr sz="1400" spc="-2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patterns,</a:t>
            </a:r>
            <a:r>
              <a:rPr sz="1400" spc="-3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trends,</a:t>
            </a:r>
            <a:r>
              <a:rPr sz="1400" spc="-2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and</a:t>
            </a:r>
            <a:r>
              <a:rPr sz="1400" spc="-4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insights</a:t>
            </a:r>
            <a:r>
              <a:rPr sz="1400" spc="-3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from</a:t>
            </a:r>
            <a:r>
              <a:rPr sz="1400" spc="-40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24242"/>
                </a:solidFill>
                <a:latin typeface="Courier New"/>
                <a:cs typeface="Courier New"/>
              </a:rPr>
              <a:t>raw</a:t>
            </a:r>
            <a:r>
              <a:rPr sz="1400" spc="-3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424242"/>
                </a:solidFill>
                <a:latin typeface="Courier New"/>
                <a:cs typeface="Courier New"/>
              </a:rPr>
              <a:t>data.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1950" rIns="0" bIns="0" rtlCol="0">
            <a:spAutoFit/>
          </a:bodyPr>
          <a:lstStyle/>
          <a:p>
            <a:pPr marL="29273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Project</a:t>
            </a:r>
            <a:r>
              <a:rPr sz="2800" spc="-50" dirty="0"/>
              <a:t> </a:t>
            </a:r>
            <a:r>
              <a:rPr sz="2800" dirty="0"/>
              <a:t>1</a:t>
            </a:r>
            <a:r>
              <a:rPr sz="2800" spc="-50" dirty="0"/>
              <a:t> </a:t>
            </a:r>
            <a:r>
              <a:rPr sz="2800" dirty="0"/>
              <a:t>:</a:t>
            </a:r>
            <a:r>
              <a:rPr sz="2800" spc="-50" dirty="0"/>
              <a:t> </a:t>
            </a:r>
            <a:r>
              <a:rPr lang="en-US" sz="2800" dirty="0" smtClean="0"/>
              <a:t>Manufacturing Performance</a:t>
            </a:r>
            <a:r>
              <a:rPr sz="2800" spc="-10" dirty="0" smtClean="0"/>
              <a:t> </a:t>
            </a:r>
            <a:r>
              <a:rPr sz="2800" spc="-10" dirty="0"/>
              <a:t>Dashboard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504850" y="1415542"/>
            <a:ext cx="7449184" cy="28941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1800" b="1" dirty="0">
                <a:solidFill>
                  <a:srgbClr val="424242"/>
                </a:solidFill>
                <a:latin typeface="Arial"/>
                <a:cs typeface="Arial"/>
              </a:rPr>
              <a:t>Business</a:t>
            </a:r>
            <a:r>
              <a:rPr sz="1800" b="1" spc="-3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24242"/>
                </a:solidFill>
                <a:latin typeface="Arial"/>
                <a:cs typeface="Arial"/>
              </a:rPr>
              <a:t>Problem</a:t>
            </a:r>
            <a:r>
              <a:rPr sz="1800" b="1" spc="-4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800" b="1" dirty="0" smtClean="0">
                <a:solidFill>
                  <a:srgbClr val="424242"/>
                </a:solidFill>
                <a:latin typeface="Arial"/>
                <a:cs typeface="Arial"/>
              </a:rPr>
              <a:t>:</a:t>
            </a:r>
            <a:r>
              <a:rPr lang="en-US" sz="1800" b="1" dirty="0" smtClean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organizations face challenges in tracking production performance, machine efficiency, product quality, and operational costs due to fragmented data sources. This limits visibility into operational bottlenecks and impacts decision-making.</a:t>
            </a:r>
          </a:p>
          <a:p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Production vs Target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Machine Utilization &amp; Downtime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Quality &amp; Rejection Rates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Controlling Maintenance &amp; Operational Costs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Capacity Utilization &amp; Efficiency</a:t>
            </a:r>
          </a:p>
          <a:p>
            <a:pPr marL="353695" marR="5080" indent="-341630">
              <a:lnSpc>
                <a:spcPct val="114999"/>
              </a:lnSpc>
              <a:spcBef>
                <a:spcPts val="100"/>
              </a:spcBef>
              <a:buFont typeface="Courier New"/>
              <a:buChar char="●"/>
              <a:tabLst>
                <a:tab pos="354965" algn="l"/>
              </a:tabLst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9725" rIns="0" bIns="0" rtlCol="0">
            <a:spAutoFit/>
          </a:bodyPr>
          <a:lstStyle/>
          <a:p>
            <a:pPr marL="972819">
              <a:lnSpc>
                <a:spcPct val="100000"/>
              </a:lnSpc>
              <a:spcBef>
                <a:spcPts val="100"/>
              </a:spcBef>
            </a:pPr>
            <a:r>
              <a:rPr spc="-240" dirty="0"/>
              <a:t>Power</a:t>
            </a:r>
            <a:r>
              <a:rPr spc="30" dirty="0"/>
              <a:t> </a:t>
            </a:r>
            <a:r>
              <a:rPr dirty="0"/>
              <a:t>BI</a:t>
            </a:r>
            <a:r>
              <a:rPr spc="40" dirty="0"/>
              <a:t> </a:t>
            </a:r>
            <a:r>
              <a:rPr spc="-210" dirty="0"/>
              <a:t>Dashboard</a:t>
            </a:r>
            <a:r>
              <a:rPr spc="5" dirty="0"/>
              <a:t> </a:t>
            </a:r>
            <a:r>
              <a:rPr spc="-235" dirty="0"/>
              <a:t>Development</a:t>
            </a:r>
            <a:r>
              <a:rPr spc="35" dirty="0"/>
              <a:t> </a:t>
            </a:r>
            <a:r>
              <a:rPr spc="-90" dirty="0"/>
              <a:t>Process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04850" y="1537462"/>
            <a:ext cx="5370830" cy="2559162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53695" marR="855344" indent="-341630">
              <a:lnSpc>
                <a:spcPct val="105000"/>
              </a:lnSpc>
              <a:spcBef>
                <a:spcPts val="20"/>
              </a:spcBef>
              <a:buSzPct val="128571"/>
              <a:buFont typeface="Wingdings" panose="05000000000000000000" pitchFamily="2" charset="2"/>
              <a:buChar char="§"/>
              <a:tabLst>
                <a:tab pos="354965" algn="l"/>
              </a:tabLst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</a:t>
            </a:r>
            <a:r>
              <a:rPr sz="1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</a:t>
            </a:r>
            <a:r>
              <a:rPr sz="1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(SQL,</a:t>
            </a:r>
            <a:r>
              <a:rPr sz="1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Excel,</a:t>
            </a:r>
            <a:r>
              <a:rPr sz="1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ERP, 	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SharePoint)</a:t>
            </a:r>
          </a:p>
          <a:p>
            <a:pPr marL="354330" indent="-341630">
              <a:lnSpc>
                <a:spcPct val="100000"/>
              </a:lnSpc>
              <a:spcBef>
                <a:spcPts val="80"/>
              </a:spcBef>
              <a:buSzPct val="128571"/>
              <a:buFont typeface="Wingdings" panose="05000000000000000000" pitchFamily="2" charset="2"/>
              <a:buChar char="§"/>
              <a:tabLst>
                <a:tab pos="354330" algn="l"/>
              </a:tabLst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sz="1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z="1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sz="1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sz="1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(Get</a:t>
            </a:r>
            <a:r>
              <a:rPr sz="1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Data)</a:t>
            </a:r>
          </a:p>
          <a:p>
            <a:pPr marL="354330" indent="-341630">
              <a:lnSpc>
                <a:spcPct val="100000"/>
              </a:lnSpc>
              <a:spcBef>
                <a:spcPts val="85"/>
              </a:spcBef>
              <a:buSzPct val="128571"/>
              <a:buFont typeface="Wingdings" panose="05000000000000000000" pitchFamily="2" charset="2"/>
              <a:buChar char="§"/>
              <a:tabLst>
                <a:tab pos="354330" algn="l"/>
              </a:tabLst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  <a:r>
              <a:rPr sz="1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sz="1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(create</a:t>
            </a:r>
            <a:r>
              <a:rPr sz="1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relationships)</a:t>
            </a:r>
          </a:p>
          <a:p>
            <a:pPr marL="354330" indent="-341630">
              <a:lnSpc>
                <a:spcPct val="100000"/>
              </a:lnSpc>
              <a:spcBef>
                <a:spcPts val="85"/>
              </a:spcBef>
              <a:buSzPct val="128571"/>
              <a:buFont typeface="Wingdings" panose="05000000000000000000" pitchFamily="2" charset="2"/>
              <a:buChar char="§"/>
              <a:tabLst>
                <a:tab pos="354330" algn="l"/>
              </a:tabLst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sz="1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</a:t>
            </a:r>
            <a:r>
              <a:rPr sz="1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</a:t>
            </a:r>
            <a:r>
              <a:rPr sz="1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(KPIs</a:t>
            </a:r>
            <a:r>
              <a:rPr sz="1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calculations)</a:t>
            </a:r>
          </a:p>
          <a:p>
            <a:pPr marL="354330" indent="-341630">
              <a:lnSpc>
                <a:spcPct val="100000"/>
              </a:lnSpc>
              <a:spcBef>
                <a:spcPts val="85"/>
              </a:spcBef>
              <a:buSzPct val="128571"/>
              <a:buFont typeface="Wingdings" panose="05000000000000000000" pitchFamily="2" charset="2"/>
              <a:buChar char="§"/>
              <a:tabLst>
                <a:tab pos="354330" algn="l"/>
              </a:tabLst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</a:t>
            </a:r>
            <a:r>
              <a:rPr sz="1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</a:t>
            </a:r>
            <a:r>
              <a:rPr sz="1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  <a:p>
            <a:pPr marL="353695" marR="5080" indent="-341630">
              <a:lnSpc>
                <a:spcPct val="105000"/>
              </a:lnSpc>
              <a:buSzPct val="128571"/>
              <a:buFont typeface="Wingdings" panose="05000000000000000000" pitchFamily="2" charset="2"/>
              <a:buChar char="§"/>
              <a:tabLst>
                <a:tab pos="354965" algn="l"/>
              </a:tabLst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  <a:r>
              <a:rPr sz="1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sz="1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  <a:r>
              <a:rPr sz="1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(Home,</a:t>
            </a:r>
            <a:r>
              <a:rPr sz="1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spc="-4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tab , Quality &amp; Maintenance Tab , Cost &amp; Efficiency Tab </a:t>
            </a:r>
            <a:r>
              <a:rPr sz="12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1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330" indent="-341630">
              <a:lnSpc>
                <a:spcPct val="100000"/>
              </a:lnSpc>
              <a:spcBef>
                <a:spcPts val="85"/>
              </a:spcBef>
              <a:buSzPct val="128571"/>
              <a:buFont typeface="Wingdings" panose="05000000000000000000" pitchFamily="2" charset="2"/>
              <a:buChar char="§"/>
              <a:tabLst>
                <a:tab pos="354330" algn="l"/>
              </a:tabLst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sz="1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slicers</a:t>
            </a:r>
            <a:r>
              <a:rPr sz="1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</a:t>
            </a:r>
          </a:p>
          <a:p>
            <a:pPr marL="354330" indent="-341630">
              <a:lnSpc>
                <a:spcPct val="100000"/>
              </a:lnSpc>
              <a:spcBef>
                <a:spcPts val="85"/>
              </a:spcBef>
              <a:buSzPct val="128571"/>
              <a:buFont typeface="Wingdings" panose="05000000000000000000" pitchFamily="2" charset="2"/>
              <a:buChar char="§"/>
              <a:tabLst>
                <a:tab pos="354330" algn="l"/>
              </a:tabLst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</a:t>
            </a:r>
            <a:r>
              <a:rPr sz="1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tooltips</a:t>
            </a:r>
          </a:p>
          <a:p>
            <a:pPr marL="354330" indent="-341630">
              <a:lnSpc>
                <a:spcPct val="100000"/>
              </a:lnSpc>
              <a:spcBef>
                <a:spcPts val="85"/>
              </a:spcBef>
              <a:buSzPct val="128571"/>
              <a:buFont typeface="Wingdings" panose="05000000000000000000" pitchFamily="2" charset="2"/>
              <a:buChar char="§"/>
              <a:tabLst>
                <a:tab pos="354330" algn="l"/>
              </a:tabLst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</a:t>
            </a:r>
            <a:r>
              <a:rPr sz="1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sz="1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sz="1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  <a:p>
            <a:pPr marL="354330" indent="-341630">
              <a:lnSpc>
                <a:spcPct val="100000"/>
              </a:lnSpc>
              <a:spcBef>
                <a:spcPts val="85"/>
              </a:spcBef>
              <a:buSzPct val="128571"/>
              <a:buFont typeface="Wingdings" panose="05000000000000000000" pitchFamily="2" charset="2"/>
              <a:buChar char="§"/>
              <a:tabLst>
                <a:tab pos="354330" algn="l"/>
              </a:tabLst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</a:t>
            </a:r>
            <a:r>
              <a:rPr sz="1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visuals</a:t>
            </a:r>
            <a:r>
              <a:rPr sz="1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  <a:p>
            <a:pPr marL="354330" indent="-341630">
              <a:lnSpc>
                <a:spcPct val="100000"/>
              </a:lnSpc>
              <a:spcBef>
                <a:spcPts val="85"/>
              </a:spcBef>
              <a:buSzPct val="128571"/>
              <a:buFont typeface="Wingdings" panose="05000000000000000000" pitchFamily="2" charset="2"/>
              <a:buChar char="§"/>
              <a:tabLst>
                <a:tab pos="354330" algn="l"/>
              </a:tabLst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</a:t>
            </a:r>
            <a:r>
              <a:rPr sz="1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refresh</a:t>
            </a:r>
          </a:p>
          <a:p>
            <a:pPr marL="354330" indent="-341630">
              <a:lnSpc>
                <a:spcPct val="100000"/>
              </a:lnSpc>
              <a:spcBef>
                <a:spcPts val="85"/>
              </a:spcBef>
              <a:buSzPct val="128571"/>
              <a:buFont typeface="Wingdings" panose="05000000000000000000" pitchFamily="2" charset="2"/>
              <a:buChar char="§"/>
              <a:tabLst>
                <a:tab pos="354330" algn="l"/>
              </a:tabLst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</a:t>
            </a:r>
            <a:r>
              <a:rPr sz="1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sz="1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z="1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permissions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7790" y="1588516"/>
            <a:ext cx="2895599" cy="26024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097"/>
            <a:ext cx="9144000" cy="50693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7443"/>
            <a:ext cx="8375695" cy="466030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141544"/>
            <a:ext cx="8458201" cy="47162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3795"/>
            <a:ext cx="8686800" cy="484083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2" y="57150"/>
            <a:ext cx="8853168" cy="493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265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96944" y="532891"/>
            <a:ext cx="11499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5" dirty="0"/>
              <a:t>ToolTips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62600" y="1259911"/>
            <a:ext cx="2078989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dirty="0" smtClean="0">
                <a:latin typeface="Arial"/>
                <a:cs typeface="Arial"/>
              </a:rPr>
              <a:t>Drill Down Functionality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9200" y="1374365"/>
            <a:ext cx="133794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60" dirty="0" smtClean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Tooltip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190750"/>
            <a:ext cx="2018919" cy="15126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962150"/>
            <a:ext cx="4570253" cy="25247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5800" y="1581150"/>
            <a:ext cx="7824470" cy="1489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sz="9600" b="1" spc="-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9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You!!!</a:t>
            </a:r>
            <a:endParaRPr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584</Words>
  <Application>Microsoft Office PowerPoint</Application>
  <PresentationFormat>On-screen Show (16:9)</PresentationFormat>
  <Paragraphs>74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Courier New</vt:lpstr>
      <vt:lpstr>Times New Roman</vt:lpstr>
      <vt:lpstr>Wingdings</vt:lpstr>
      <vt:lpstr>Office Theme</vt:lpstr>
      <vt:lpstr>Data Analyst Internship: A 4 Month Upskilling Roadmap</vt:lpstr>
      <vt:lpstr>About the Company</vt:lpstr>
      <vt:lpstr>Week 1–2 – Excel Fundamentals</vt:lpstr>
      <vt:lpstr>PowerPoint Presentation</vt:lpstr>
      <vt:lpstr>Week 3–4: SQL Fundamentals</vt:lpstr>
      <vt:lpstr>Week 5–8 : End-to-End Dashboard Development with Power BI</vt:lpstr>
      <vt:lpstr>PowerPoint Presentation</vt:lpstr>
      <vt:lpstr>Tooltip</vt:lpstr>
      <vt:lpstr>Week 9–11: Data Analysis using Python &amp; EDA</vt:lpstr>
      <vt:lpstr>Project 1 : Manufacturing Performance Dashboard</vt:lpstr>
      <vt:lpstr>Power BI Dashboard Development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ToolTips</vt:lpstr>
      <vt:lpstr>Thank You!!!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Analyst Internship: A 4 Month Upskilling Roadmap</dc:title>
  <dc:creator>Vinayak Sood</dc:creator>
  <cp:lastModifiedBy>Rashmi Thakur</cp:lastModifiedBy>
  <cp:revision>6</cp:revision>
  <dcterms:created xsi:type="dcterms:W3CDTF">2026-06-10T11:53:33Z</dcterms:created>
  <dcterms:modified xsi:type="dcterms:W3CDTF">2026-06-15T10:29:23Z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2026-04-17T00:00:00Z</vt:filetime>
  </property>
  <property fmtid="{D5CDD505-2E9C-101B-9397-08002B2CF9AE}" pid="3" name="Creator">
    <vt:lpwstr>Microsoft® PowerPoint® 2024</vt:lpwstr>
  </property>
  <property fmtid="{D5CDD505-2E9C-101B-9397-08002B2CF9AE}" pid="4" name="LastSaved">
    <vt:filetime>2026-06-10T00:00:00Z</vt:filetime>
  </property>
  <property fmtid="{D5CDD505-2E9C-101B-9397-08002B2CF9AE}" pid="5" name="Producer">
    <vt:lpwstr>Microsoft® PowerPoint® 2024</vt:lpwstr>
  </property>
</Properties>
</file>